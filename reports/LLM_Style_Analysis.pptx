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2685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8229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Large Language Models Have Style?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22402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Stylometric Analysis of LLM Authorship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2880360"/>
            <a:ext cx="795528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017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Erdem Bakir  |  Text Mining &amp; Sentiment Analysis  |  Università degli Studi di Milano  |  May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BF4FF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Large Language Models exhibit distinctive and identifiable stylistic fingerprints that persist across different discourse genres?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Sub-questions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50813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classifier trained on stylometric features reliably attribute texts to their generating model?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stylistic features are most discriminative across models?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robust are stylistic signatures across different discourse genres?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356616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Closed-source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6733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GPT-4o-mini (OpenAI)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476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Haiku 4.5 (Anthropic)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2219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 2.5 Flash (Google)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4963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7523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Qwen2.5-7B-Instruct (HuggingFace)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0266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LLaMA 3.1-8B-Instruct (HuggingFace)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023360" cy="356616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Parameters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4173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1417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(all models)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7373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1737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(≈150 words)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0574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20574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markdown / headers / bullets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23774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extra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23774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budget = 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used: OpenAI API, Anthropic API, Google Generative AI API, HuggingFace Inference API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&amp; Feature Extraction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508760" cy="868680"/>
          </a:xfrm>
          <a:prstGeom prst="rect">
            <a:avLst/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52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9903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texts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868680"/>
            <a:ext cx="1508760" cy="868680"/>
          </a:xfrm>
          <a:prstGeom prst="rect">
            <a:avLst/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9144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52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103120" y="139903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868680"/>
            <a:ext cx="1508760" cy="868680"/>
          </a:xfrm>
          <a:prstGeom prst="rect">
            <a:avLst/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9144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52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749040" y="139903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Discourse genres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868680"/>
            <a:ext cx="1508760" cy="868680"/>
          </a:xfrm>
          <a:prstGeom prst="rect">
            <a:avLst/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9144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52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94960" y="139903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per model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0" y="868680"/>
            <a:ext cx="1508760" cy="868680"/>
          </a:xfrm>
          <a:prstGeom prst="rect">
            <a:avLst/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9144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52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040880" y="139903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 features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Discourse Genres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1975781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Explanation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Opinion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Comparison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Narration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Argumentation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Dialogue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1920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Sources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1967653"/>
            <a:ext cx="4114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(en_core_web_sm)
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sentence length, punctuation frequency,
POS ratios: noun, verb, adj, adverb</a:t>
            </a:r>
          </a:p>
          <a:p>
            <a:pPr marL="0" indent="0">
              <a:buNone/>
            </a:pPr>
            <a:endParaRPr lang="en-US" sz="120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StyloMetrix
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 type-token ratio, active/passive voice,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present/past tense, 1st-person pronoun,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discourse markers (contradiction, agreement)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pair exceeded r = 0.70 correlation.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Approach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8640" y="8412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1152144"/>
            <a:ext cx="4023360" cy="960120"/>
          </a:xfrm>
          <a:prstGeom prst="rect">
            <a:avLst/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8" name="Text 16"/>
          <p:cNvSpPr/>
          <p:nvPr/>
        </p:nvSpPr>
        <p:spPr>
          <a:xfrm>
            <a:off x="667512" y="12070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Score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" y="14721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balanced_score  =  CV accuracy  −  0.5 × overfit_gap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" y="17556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overfit_gap  =  train accuracy  −  CV accuracy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22128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Space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621359"/>
              </p:ext>
            </p:extLst>
          </p:nvPr>
        </p:nvGraphicFramePr>
        <p:xfrm>
          <a:off x="548640" y="2505456"/>
          <a:ext cx="4023360" cy="120700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 tested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3, 5, 7, 10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min_samples_leaf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3, 5, 10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5, 10, 20, 30, 50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hape 2">
            <a:extLst>
              <a:ext uri="{FF2B5EF4-FFF2-40B4-BE49-F238E27FC236}">
                <a16:creationId xmlns:a16="http://schemas.microsoft.com/office/drawing/2014/main" id="{D6107779-EE2A-C895-A0F2-E9FB9F6F3050}"/>
              </a:ext>
            </a:extLst>
          </p:cNvPr>
          <p:cNvSpPr/>
          <p:nvPr/>
        </p:nvSpPr>
        <p:spPr>
          <a:xfrm>
            <a:off x="5367528" y="1160949"/>
            <a:ext cx="3108960" cy="688171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pPr algn="ctr"/>
            <a:r>
              <a:rPr lang="en-GB" b="1" dirty="0">
                <a:solidFill>
                  <a:srgbClr val="1A2A3A"/>
                </a:solidFill>
                <a:latin typeface="Calibri" pitchFamily="34" charset="0"/>
                <a:cs typeface="Calibri" pitchFamily="34" charset="-120"/>
              </a:rPr>
              <a:t>Model</a:t>
            </a:r>
          </a:p>
          <a:p>
            <a:pPr algn="ctr"/>
            <a:r>
              <a:rPr lang="en-GB" dirty="0"/>
              <a:t>Random Forest</a:t>
            </a:r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581EE357-CF85-6EF6-0E07-513621990432}"/>
              </a:ext>
            </a:extLst>
          </p:cNvPr>
          <p:cNvSpPr/>
          <p:nvPr/>
        </p:nvSpPr>
        <p:spPr>
          <a:xfrm>
            <a:off x="5376672" y="3294381"/>
            <a:ext cx="3108960" cy="935059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with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score</a:t>
            </a:r>
            <a:endParaRPr lang="en-US" b="1" dirty="0">
              <a:solidFill>
                <a:srgbClr val="1A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B31321DA-646D-A2F8-9CB8-FA556D57E0E9}"/>
              </a:ext>
            </a:extLst>
          </p:cNvPr>
          <p:cNvSpPr/>
          <p:nvPr/>
        </p:nvSpPr>
        <p:spPr>
          <a:xfrm>
            <a:off x="5367528" y="2220299"/>
            <a:ext cx="3108960" cy="744728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</a:p>
          <a:p>
            <a:pPr algn="ctr"/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</a:t>
            </a:r>
            <a:endParaRPr lang="en-US" dirty="0"/>
          </a:p>
          <a:p>
            <a:pPr algn="ctr"/>
            <a:endParaRPr lang="en-GB" dirty="0"/>
          </a:p>
        </p:txBody>
      </p:sp>
      <p:graphicFrame>
        <p:nvGraphicFramePr>
          <p:cNvPr id="32" name="Table 0">
            <a:extLst>
              <a:ext uri="{FF2B5EF4-FFF2-40B4-BE49-F238E27FC236}">
                <a16:creationId xmlns:a16="http://schemas.microsoft.com/office/drawing/2014/main" id="{C658142D-7A4C-7EAF-CC5B-8D7070D5B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674061"/>
              </p:ext>
            </p:extLst>
          </p:nvPr>
        </p:nvGraphicFramePr>
        <p:xfrm>
          <a:off x="973668" y="4004733"/>
          <a:ext cx="2793661" cy="603504"/>
        </p:xfrm>
        <a:graphic>
          <a:graphicData uri="http://schemas.openxmlformats.org/drawingml/2006/table">
            <a:tbl>
              <a:tblPr/>
              <a:tblGrid>
                <a:gridCol w="706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3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3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74520" cy="77724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05256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44168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23160" y="868680"/>
            <a:ext cx="18745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905256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52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423160" y="1344168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868680"/>
            <a:ext cx="18745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905256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52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389120" y="1344168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868680"/>
            <a:ext cx="18745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905256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52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55080" y="1344168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 Gap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1783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Performance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851287"/>
              </p:ext>
            </p:extLst>
          </p:nvPr>
        </p:nvGraphicFramePr>
        <p:xfrm>
          <a:off x="457200" y="2103120"/>
          <a:ext cx="4023360" cy="243230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52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avg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66344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057399"/>
            <a:ext cx="4114800" cy="30361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669280" y="822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669280" y="1188720"/>
            <a:ext cx="310896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60720" y="12527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diversity (0.23)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60720" y="157276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discriminative feature, vocabulary richness differs most between models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0" y="2331720"/>
            <a:ext cx="310896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3957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length (0.19)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60720" y="271576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Second-most important, reflects structural tendencies of each model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0" y="3474720"/>
            <a:ext cx="310896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35387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frequency (0.14)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60720" y="385876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models' higher punctuation frequency stands out clearly</a:t>
            </a:r>
            <a:endParaRPr lang="en-US" sz="1100" dirty="0"/>
          </a:p>
        </p:txBody>
      </p:sp>
      <p:pic>
        <p:nvPicPr>
          <p:cNvPr id="19" name="Picture 18" descr="A graph with blue and white bars&#10;&#10;Description automatically generated">
            <a:extLst>
              <a:ext uri="{FF2B5EF4-FFF2-40B4-BE49-F238E27FC236}">
                <a16:creationId xmlns:a16="http://schemas.microsoft.com/office/drawing/2014/main" id="{B922E479-28B8-5CEF-1346-AC83E9928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91" y="1252728"/>
            <a:ext cx="5307653" cy="31631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1069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Analysis — Per-Model Stylistic Signatures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2441"/>
            <a:ext cx="2568787" cy="187307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7408" y="745918"/>
            <a:ext cx="2568787" cy="1873074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8014" y="663414"/>
            <a:ext cx="2568786" cy="1873073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3087" y="2701496"/>
            <a:ext cx="2667339" cy="194493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1848" y="2701496"/>
            <a:ext cx="2667338" cy="194493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57200" y="4545111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sentences, high active voice, contradiction markers</a:t>
            </a: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05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Gemini: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vocabulary, high punctuation frequency</a:t>
            </a: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05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GPT: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lexical diversity, longer sentences, heavy noun usage</a:t>
            </a: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05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LLaMA: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lexical diversity, long sentences</a:t>
            </a: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05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Qwen: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sentences, lower active voice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Genre Analysis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060027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by Genre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271024"/>
              </p:ext>
            </p:extLst>
          </p:nvPr>
        </p:nvGraphicFramePr>
        <p:xfrm>
          <a:off x="457200" y="1380067"/>
          <a:ext cx="4114800" cy="2633472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vs. avg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Dialogue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6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6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67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(avg)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2">
            <a:extLst>
              <a:ext uri="{FF2B5EF4-FFF2-40B4-BE49-F238E27FC236}">
                <a16:creationId xmlns:a16="http://schemas.microsoft.com/office/drawing/2014/main" id="{CD64AE2B-E494-2B1A-8E32-5222ACE93913}"/>
              </a:ext>
            </a:extLst>
          </p:cNvPr>
          <p:cNvSpPr/>
          <p:nvPr/>
        </p:nvSpPr>
        <p:spPr>
          <a:xfrm>
            <a:off x="5344160" y="1715177"/>
            <a:ext cx="3108960" cy="1583436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563A7FA7-B63C-F124-6BE3-2A0C6EE5358C}"/>
              </a:ext>
            </a:extLst>
          </p:cNvPr>
          <p:cNvSpPr/>
          <p:nvPr/>
        </p:nvSpPr>
        <p:spPr>
          <a:xfrm>
            <a:off x="5435600" y="177918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2BF0BB74-A4A2-6F44-4E99-AE6133212574}"/>
              </a:ext>
            </a:extLst>
          </p:cNvPr>
          <p:cNvSpPr/>
          <p:nvPr/>
        </p:nvSpPr>
        <p:spPr>
          <a:xfrm>
            <a:off x="5435600" y="2209715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shows the lowest accuracy, technical writing converges across models.</a:t>
            </a:r>
          </a:p>
          <a:p>
            <a:pPr marL="0" indent="0">
              <a:buNone/>
            </a:pPr>
            <a:endParaRPr lang="en-US" sz="110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Comparison is the highest, discourse markers create distinctive per-model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Stylistic Space Visualization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— by Model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15568"/>
            <a:ext cx="41148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17720" y="8229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— by Model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115568"/>
            <a:ext cx="4114800" cy="2926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30.5% + 13.9% = 44.4% variance explained. Neither PCA nor t-SNE show clearly separated model clusters — consistent with 54% classifier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5">
            <a:extLst>
              <a:ext uri="{FF2B5EF4-FFF2-40B4-BE49-F238E27FC236}">
                <a16:creationId xmlns:a16="http://schemas.microsoft.com/office/drawing/2014/main" id="{A62349A6-D9E0-A2BA-8DFD-088001E1B00F}"/>
              </a:ext>
            </a:extLst>
          </p:cNvPr>
          <p:cNvSpPr/>
          <p:nvPr/>
        </p:nvSpPr>
        <p:spPr>
          <a:xfrm>
            <a:off x="5303520" y="886968"/>
            <a:ext cx="3355848" cy="1078992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Genre Effect on Stylistic Space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— Colored by Genre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15568"/>
            <a:ext cx="475488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58968" y="9326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58968" y="1234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drives stylistic space more strongly than model identity.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349240" y="2194560"/>
            <a:ext cx="3383280" cy="73152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58968" y="2258568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Dialogue and Narration form clearly separate clusters regardless of which model generated them.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49240" y="3035808"/>
            <a:ext cx="3383280" cy="73152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58968" y="3099816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Explanation, Opinion, Comparison, Argumentation genres overlap significantly in stylistic space.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49240" y="3877056"/>
            <a:ext cx="3383280" cy="73152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58968" y="3941064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Genre-driven variation partially masks model-level stylistic differences.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Concluding Remarks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69164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784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7840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do have style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399032"/>
            <a:ext cx="3675888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on 14 stylometric features → 54% accuracy vs. 20% baseline. Statistically meaningful authorship attribution across models.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53712" y="868680"/>
            <a:ext cx="3931920" cy="169164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9784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18304" y="9601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most distinctive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18304" y="1399032"/>
            <a:ext cx="3675888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0.71. Short sentences, high active voice, frequent contradiction markers. LLaMA second (F1 = 0.62). Qwen hardest to distinguish (F1 = 0.35).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24912"/>
            <a:ext cx="3931920" cy="169164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" y="2849541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&gt; Model in stylistic space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3255264"/>
            <a:ext cx="3675888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and Narration form clear clusters regardless of model. Genre variation partially masks model-level differences.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53712" y="2724912"/>
            <a:ext cx="3931920" cy="169164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90872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90872" y="2849541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limitations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18304" y="3255264"/>
            <a:ext cx="3675888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corpus, stylistic robustness under human-mimicry prompting, expanded feature set, larger number of stylistic attributes.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806</Words>
  <Application>Microsoft Office PowerPoint</Application>
  <PresentationFormat>On-screen Show (16:9)</PresentationFormat>
  <Paragraphs>193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LLMs Have Style? A Stylometric Analysis</dc:title>
  <dc:subject>PptxGenJS Presentation</dc:subject>
  <dc:creator>PptxGenJS</dc:creator>
  <cp:lastModifiedBy>Erdem Bakir</cp:lastModifiedBy>
  <cp:revision>7</cp:revision>
  <dcterms:created xsi:type="dcterms:W3CDTF">2026-05-22T03:04:02Z</dcterms:created>
  <dcterms:modified xsi:type="dcterms:W3CDTF">2026-05-22T15:10:30Z</dcterms:modified>
</cp:coreProperties>
</file>